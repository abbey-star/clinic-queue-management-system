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78" y="296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2097-72E9-4041-8A43-65FFFC137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71A44-8E3F-4D38-86E1-76F507F7D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402D-5121-4CF3-AD63-FE0AB25B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9BEDE-0FA8-4D62-AE0A-FFE76761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C7B7-5981-4EDB-A067-B0C65052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3B07-925C-4E36-AF22-886A7DA6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9AC-BAA6-4AA7-9CB6-DDAEA9EDB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6D78D-2B2B-4480-83C2-33739EB5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79E6F-CD2B-4CF7-A09C-1D1B4253C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6A257-2216-42BE-89BE-A4794AF1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7735-025A-4585-9421-83CE7ADC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E577-7375-4473-B5C2-9C089E4BA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F44E-8C30-4F22-B26D-85FB66C1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A2C9-4376-4E61-B55A-3AFF8F18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0ED8C-6936-4B00-9171-C7FC37A3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0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135D-E3DF-40E2-BF41-1C198E3E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BC40-DFC5-4E54-B09E-E3319BA33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2D8A7-717F-4448-B8B8-3BF418637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5EA42-0A23-4691-B8A9-F613AD4A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BFFB1-B6D7-464A-9ABF-6AB3F117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BD646-A875-4CBE-91F5-CCB693BB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3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4E61-1D18-4BE5-A87F-75257B695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5B27B-B9FB-4F97-A5BB-135636AE2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016BD-3AC9-4DC3-8761-1E773D412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B8298-BC7E-4E45-9D52-AEF5B347B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63EC0-8683-49D1-9A58-855F61ECB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BC52C-EC0B-43E4-932C-4B251A44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8A536-7532-44AD-BE69-BB9ECDC7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8EEB5-A2EC-4B24-8F47-4E9EF4C0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1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9033-06AD-48A8-A4D1-95CE6D6E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A0991-40C5-4819-B64E-3E73315C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06ED7-E402-48B9-9F70-0518B0F4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14BA6-7345-4933-92BE-7DF4651A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6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91FEB-29C3-4347-843D-14679016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17FC6-5094-4A7A-80DD-266A3D7B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B7931-237E-49CC-AD5F-D8E6485E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ABDF-CB4D-47D3-A084-9D2EDC7F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6839-3898-4273-B029-37DEB7641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FBCB9-9C1E-4BFB-A2BA-7B82CA7DA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42BB3-B349-4F90-A2CB-DDDE134C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CD546-F54E-4244-BA7B-4AAFCEC0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4F8FF-FD33-4506-B014-2ECBDB76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9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8A18-345A-4C47-A151-68261AAD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0A31A-3A7C-45F0-A42F-660D1C584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9624A-C0D6-4D8A-A19A-DE3F29ACA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1A74A-C167-4D41-8714-2B6E0323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56BB5-EFF9-4B3A-B2FB-7BE11F1E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F4132-0F11-46DE-AA20-475551B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5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E891-6C84-44B7-9BEB-DCB7DE04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FACDF-296A-4951-8B7A-5DF6EBC9E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27389-A57F-498E-9E21-FB7DF7D4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96D7-9A7F-4C5C-8BD7-CB16730D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17D12-4E1D-4D44-B60E-C8902593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3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76F59-0100-4B19-A54A-0AAE2A512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131F0-2EBE-4106-A8EC-61F9EDFE2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CB1A-F630-4383-ACE6-A743458F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19AAE-9709-4B60-B6AE-0ED0B146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CDCC3-055E-4C60-AC92-52A5DF77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E2832-2101-406D-8960-682B2E7B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89949-4FE4-464F-B16C-9804103CB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8F39B-5591-4285-8C8E-F81F1B1E5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1D777-17E3-4711-9083-AB5441865A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FF2C6-614D-417F-8D37-073137BF9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BFD5-C8C1-4BEA-8A7D-CB9512BC6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BA7D-93B9-424A-8849-A0CF9A864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2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43">
            <a:extLst>
              <a:ext uri="{FF2B5EF4-FFF2-40B4-BE49-F238E27FC236}">
                <a16:creationId xmlns:a16="http://schemas.microsoft.com/office/drawing/2014/main" id="{D08C01E2-CA30-4956-9B6F-B980763110BC}"/>
              </a:ext>
            </a:extLst>
          </p:cNvPr>
          <p:cNvSpPr/>
          <p:nvPr/>
        </p:nvSpPr>
        <p:spPr>
          <a:xfrm>
            <a:off x="257175" y="552450"/>
            <a:ext cx="7405370" cy="8007350"/>
          </a:xfrm>
          <a:custGeom>
            <a:avLst/>
            <a:gdLst/>
            <a:ahLst/>
            <a:cxnLst/>
            <a:rect l="0" t="0" r="0" b="0"/>
            <a:pathLst>
              <a:path w="7406006" h="8007742">
                <a:moveTo>
                  <a:pt x="74060" y="0"/>
                </a:moveTo>
                <a:lnTo>
                  <a:pt x="7331946" y="0"/>
                </a:lnTo>
                <a:cubicBezTo>
                  <a:pt x="7341766" y="0"/>
                  <a:pt x="7351212" y="1879"/>
                  <a:pt x="7360285" y="5637"/>
                </a:cubicBezTo>
                <a:cubicBezTo>
                  <a:pt x="7369359" y="9396"/>
                  <a:pt x="7377368" y="14747"/>
                  <a:pt x="7384313" y="21692"/>
                </a:cubicBezTo>
                <a:cubicBezTo>
                  <a:pt x="7391256" y="28636"/>
                  <a:pt x="7396608" y="36645"/>
                  <a:pt x="7400366" y="45718"/>
                </a:cubicBezTo>
                <a:cubicBezTo>
                  <a:pt x="7404125" y="54792"/>
                  <a:pt x="7406005" y="64239"/>
                  <a:pt x="7406006" y="74060"/>
                </a:cubicBezTo>
                <a:lnTo>
                  <a:pt x="7406006" y="7933683"/>
                </a:lnTo>
                <a:cubicBezTo>
                  <a:pt x="7406005" y="7943503"/>
                  <a:pt x="7404125" y="7952949"/>
                  <a:pt x="7400366" y="7962022"/>
                </a:cubicBezTo>
                <a:cubicBezTo>
                  <a:pt x="7396608" y="7971096"/>
                  <a:pt x="7391256" y="7979105"/>
                  <a:pt x="7384313" y="7986050"/>
                </a:cubicBezTo>
                <a:cubicBezTo>
                  <a:pt x="7377368" y="7992993"/>
                  <a:pt x="7369359" y="7998345"/>
                  <a:pt x="7360285" y="8002103"/>
                </a:cubicBezTo>
                <a:lnTo>
                  <a:pt x="7331950" y="8007742"/>
                </a:lnTo>
                <a:lnTo>
                  <a:pt x="74056" y="8007742"/>
                </a:lnTo>
                <a:lnTo>
                  <a:pt x="45718" y="8002103"/>
                </a:lnTo>
                <a:cubicBezTo>
                  <a:pt x="36645" y="7998345"/>
                  <a:pt x="28636" y="7992993"/>
                  <a:pt x="21692" y="7986050"/>
                </a:cubicBezTo>
                <a:cubicBezTo>
                  <a:pt x="14747" y="7979105"/>
                  <a:pt x="9396" y="7971096"/>
                  <a:pt x="5637" y="7962022"/>
                </a:cubicBezTo>
                <a:cubicBezTo>
                  <a:pt x="1879" y="7952949"/>
                  <a:pt x="0" y="7943503"/>
                  <a:pt x="0" y="7933683"/>
                </a:cubicBezTo>
                <a:lnTo>
                  <a:pt x="0" y="74060"/>
                </a:lnTo>
                <a:cubicBezTo>
                  <a:pt x="0" y="64239"/>
                  <a:pt x="1879" y="54792"/>
                  <a:pt x="5637" y="45718"/>
                </a:cubicBezTo>
                <a:cubicBezTo>
                  <a:pt x="9396" y="36645"/>
                  <a:pt x="14747" y="28636"/>
                  <a:pt x="21692" y="21692"/>
                </a:cubicBezTo>
                <a:cubicBezTo>
                  <a:pt x="28636" y="14747"/>
                  <a:pt x="36645" y="9396"/>
                  <a:pt x="45718" y="5637"/>
                </a:cubicBezTo>
                <a:cubicBezTo>
                  <a:pt x="54792" y="1879"/>
                  <a:pt x="64239" y="0"/>
                  <a:pt x="74060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FFFFFF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US"/>
          </a:p>
        </p:txBody>
      </p:sp>
      <p:sp>
        <p:nvSpPr>
          <p:cNvPr id="3" name="Shape 843">
            <a:extLst>
              <a:ext uri="{FF2B5EF4-FFF2-40B4-BE49-F238E27FC236}">
                <a16:creationId xmlns:a16="http://schemas.microsoft.com/office/drawing/2014/main" id="{460971CF-BE82-4114-917C-E90352392B4D}"/>
              </a:ext>
            </a:extLst>
          </p:cNvPr>
          <p:cNvSpPr/>
          <p:nvPr/>
        </p:nvSpPr>
        <p:spPr>
          <a:xfrm>
            <a:off x="914400" y="914400"/>
            <a:ext cx="7405370" cy="8007350"/>
          </a:xfrm>
          <a:custGeom>
            <a:avLst/>
            <a:gdLst/>
            <a:ahLst/>
            <a:cxnLst/>
            <a:rect l="0" t="0" r="0" b="0"/>
            <a:pathLst>
              <a:path w="7406006" h="8007742">
                <a:moveTo>
                  <a:pt x="74060" y="0"/>
                </a:moveTo>
                <a:lnTo>
                  <a:pt x="7331946" y="0"/>
                </a:lnTo>
                <a:cubicBezTo>
                  <a:pt x="7341766" y="0"/>
                  <a:pt x="7351212" y="1879"/>
                  <a:pt x="7360285" y="5637"/>
                </a:cubicBezTo>
                <a:cubicBezTo>
                  <a:pt x="7369359" y="9396"/>
                  <a:pt x="7377368" y="14747"/>
                  <a:pt x="7384313" y="21692"/>
                </a:cubicBezTo>
                <a:cubicBezTo>
                  <a:pt x="7391256" y="28636"/>
                  <a:pt x="7396608" y="36645"/>
                  <a:pt x="7400366" y="45718"/>
                </a:cubicBezTo>
                <a:cubicBezTo>
                  <a:pt x="7404125" y="54792"/>
                  <a:pt x="7406005" y="64239"/>
                  <a:pt x="7406006" y="74060"/>
                </a:cubicBezTo>
                <a:lnTo>
                  <a:pt x="7406006" y="7933683"/>
                </a:lnTo>
                <a:cubicBezTo>
                  <a:pt x="7406005" y="7943503"/>
                  <a:pt x="7404125" y="7952949"/>
                  <a:pt x="7400366" y="7962022"/>
                </a:cubicBezTo>
                <a:cubicBezTo>
                  <a:pt x="7396608" y="7971096"/>
                  <a:pt x="7391256" y="7979105"/>
                  <a:pt x="7384313" y="7986050"/>
                </a:cubicBezTo>
                <a:cubicBezTo>
                  <a:pt x="7377368" y="7992993"/>
                  <a:pt x="7369359" y="7998345"/>
                  <a:pt x="7360285" y="8002103"/>
                </a:cubicBezTo>
                <a:lnTo>
                  <a:pt x="7331950" y="8007742"/>
                </a:lnTo>
                <a:lnTo>
                  <a:pt x="74056" y="8007742"/>
                </a:lnTo>
                <a:lnTo>
                  <a:pt x="45718" y="8002103"/>
                </a:lnTo>
                <a:cubicBezTo>
                  <a:pt x="36645" y="7998345"/>
                  <a:pt x="28636" y="7992993"/>
                  <a:pt x="21692" y="7986050"/>
                </a:cubicBezTo>
                <a:cubicBezTo>
                  <a:pt x="14747" y="7979105"/>
                  <a:pt x="9396" y="7971096"/>
                  <a:pt x="5637" y="7962022"/>
                </a:cubicBezTo>
                <a:cubicBezTo>
                  <a:pt x="1879" y="7952949"/>
                  <a:pt x="0" y="7943503"/>
                  <a:pt x="0" y="7933683"/>
                </a:cubicBezTo>
                <a:lnTo>
                  <a:pt x="0" y="74060"/>
                </a:lnTo>
                <a:cubicBezTo>
                  <a:pt x="0" y="64239"/>
                  <a:pt x="1879" y="54792"/>
                  <a:pt x="5637" y="45718"/>
                </a:cubicBezTo>
                <a:cubicBezTo>
                  <a:pt x="9396" y="36645"/>
                  <a:pt x="14747" y="28636"/>
                  <a:pt x="21692" y="21692"/>
                </a:cubicBezTo>
                <a:cubicBezTo>
                  <a:pt x="28636" y="14747"/>
                  <a:pt x="36645" y="9396"/>
                  <a:pt x="45718" y="5637"/>
                </a:cubicBezTo>
                <a:cubicBezTo>
                  <a:pt x="54792" y="1879"/>
                  <a:pt x="64239" y="0"/>
                  <a:pt x="74060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FFFFFF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US"/>
          </a:p>
        </p:txBody>
      </p:sp>
      <p:sp>
        <p:nvSpPr>
          <p:cNvPr id="4" name="AutoShape 1">
            <a:extLst>
              <a:ext uri="{FF2B5EF4-FFF2-40B4-BE49-F238E27FC236}">
                <a16:creationId xmlns:a16="http://schemas.microsoft.com/office/drawing/2014/main" id="{BD5846B5-70DE-47CD-9701-D48C3D14FB1C}"/>
              </a:ext>
            </a:extLst>
          </p:cNvPr>
          <p:cNvSpPr>
            <a:spLocks/>
          </p:cNvSpPr>
          <p:nvPr/>
        </p:nvSpPr>
        <p:spPr bwMode="auto">
          <a:xfrm>
            <a:off x="152400" y="609600"/>
            <a:ext cx="7405688" cy="8007350"/>
          </a:xfrm>
          <a:custGeom>
            <a:avLst/>
            <a:gdLst>
              <a:gd name="T0" fmla="*/ 74060 w 7406006"/>
              <a:gd name="T1" fmla="*/ 0 h 8007742"/>
              <a:gd name="T2" fmla="*/ 7331946 w 7406006"/>
              <a:gd name="T3" fmla="*/ 0 h 8007742"/>
              <a:gd name="T4" fmla="*/ 7360285 w 7406006"/>
              <a:gd name="T5" fmla="*/ 5637 h 8007742"/>
              <a:gd name="T6" fmla="*/ 7384313 w 7406006"/>
              <a:gd name="T7" fmla="*/ 21692 h 8007742"/>
              <a:gd name="T8" fmla="*/ 7400366 w 7406006"/>
              <a:gd name="T9" fmla="*/ 45718 h 8007742"/>
              <a:gd name="T10" fmla="*/ 7406006 w 7406006"/>
              <a:gd name="T11" fmla="*/ 74060 h 8007742"/>
              <a:gd name="T12" fmla="*/ 7406006 w 7406006"/>
              <a:gd name="T13" fmla="*/ 7933683 h 8007742"/>
              <a:gd name="T14" fmla="*/ 7400366 w 7406006"/>
              <a:gd name="T15" fmla="*/ 7962022 h 8007742"/>
              <a:gd name="T16" fmla="*/ 7384313 w 7406006"/>
              <a:gd name="T17" fmla="*/ 7986050 h 8007742"/>
              <a:gd name="T18" fmla="*/ 7360285 w 7406006"/>
              <a:gd name="T19" fmla="*/ 8002103 h 8007742"/>
              <a:gd name="T20" fmla="*/ 7331950 w 7406006"/>
              <a:gd name="T21" fmla="*/ 8007742 h 8007742"/>
              <a:gd name="T22" fmla="*/ 74056 w 7406006"/>
              <a:gd name="T23" fmla="*/ 8007742 h 8007742"/>
              <a:gd name="T24" fmla="*/ 45718 w 7406006"/>
              <a:gd name="T25" fmla="*/ 8002103 h 8007742"/>
              <a:gd name="T26" fmla="*/ 21692 w 7406006"/>
              <a:gd name="T27" fmla="*/ 7986050 h 8007742"/>
              <a:gd name="T28" fmla="*/ 5637 w 7406006"/>
              <a:gd name="T29" fmla="*/ 7962022 h 8007742"/>
              <a:gd name="T30" fmla="*/ 0 w 7406006"/>
              <a:gd name="T31" fmla="*/ 7933683 h 8007742"/>
              <a:gd name="T32" fmla="*/ 0 w 7406006"/>
              <a:gd name="T33" fmla="*/ 74060 h 8007742"/>
              <a:gd name="T34" fmla="*/ 5637 w 7406006"/>
              <a:gd name="T35" fmla="*/ 45718 h 8007742"/>
              <a:gd name="T36" fmla="*/ 21692 w 7406006"/>
              <a:gd name="T37" fmla="*/ 21692 h 8007742"/>
              <a:gd name="T38" fmla="*/ 45718 w 7406006"/>
              <a:gd name="T39" fmla="*/ 5637 h 8007742"/>
              <a:gd name="T40" fmla="*/ 74060 w 7406006"/>
              <a:gd name="T41" fmla="*/ 0 h 8007742"/>
              <a:gd name="T42" fmla="*/ 0 w 7406006"/>
              <a:gd name="T43" fmla="*/ 0 h 8007742"/>
              <a:gd name="T44" fmla="*/ 7406006 w 7406006"/>
              <a:gd name="T45" fmla="*/ 8007742 h 8007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T42" t="T43" r="T44" b="T45"/>
            <a:pathLst>
              <a:path w="7406006" h="8007742">
                <a:moveTo>
                  <a:pt x="74060" y="0"/>
                </a:moveTo>
                <a:lnTo>
                  <a:pt x="7331946" y="0"/>
                </a:lnTo>
                <a:cubicBezTo>
                  <a:pt x="7341766" y="0"/>
                  <a:pt x="7351212" y="1879"/>
                  <a:pt x="7360285" y="5637"/>
                </a:cubicBezTo>
                <a:cubicBezTo>
                  <a:pt x="7369359" y="9396"/>
                  <a:pt x="7377368" y="14747"/>
                  <a:pt x="7384313" y="21692"/>
                </a:cubicBezTo>
                <a:cubicBezTo>
                  <a:pt x="7391256" y="28636"/>
                  <a:pt x="7396608" y="36645"/>
                  <a:pt x="7400366" y="45718"/>
                </a:cubicBezTo>
                <a:cubicBezTo>
                  <a:pt x="7404125" y="54792"/>
                  <a:pt x="7406005" y="64239"/>
                  <a:pt x="7406006" y="74060"/>
                </a:cubicBezTo>
                <a:lnTo>
                  <a:pt x="7406006" y="7933683"/>
                </a:lnTo>
                <a:cubicBezTo>
                  <a:pt x="7406005" y="7943503"/>
                  <a:pt x="7404125" y="7952949"/>
                  <a:pt x="7400366" y="7962022"/>
                </a:cubicBezTo>
                <a:cubicBezTo>
                  <a:pt x="7396608" y="7971096"/>
                  <a:pt x="7391256" y="7979105"/>
                  <a:pt x="7384313" y="7986050"/>
                </a:cubicBezTo>
                <a:cubicBezTo>
                  <a:pt x="7377368" y="7992993"/>
                  <a:pt x="7369359" y="7998345"/>
                  <a:pt x="7360285" y="8002103"/>
                </a:cubicBezTo>
                <a:lnTo>
                  <a:pt x="7331950" y="8007742"/>
                </a:lnTo>
                <a:lnTo>
                  <a:pt x="74056" y="8007742"/>
                </a:lnTo>
                <a:lnTo>
                  <a:pt x="45718" y="8002103"/>
                </a:lnTo>
                <a:cubicBezTo>
                  <a:pt x="36645" y="7998345"/>
                  <a:pt x="28636" y="7992993"/>
                  <a:pt x="21692" y="7986050"/>
                </a:cubicBezTo>
                <a:cubicBezTo>
                  <a:pt x="14747" y="7979105"/>
                  <a:pt x="9396" y="7971096"/>
                  <a:pt x="5637" y="7962022"/>
                </a:cubicBezTo>
                <a:cubicBezTo>
                  <a:pt x="1879" y="7952949"/>
                  <a:pt x="0" y="7943503"/>
                  <a:pt x="0" y="7933683"/>
                </a:cubicBezTo>
                <a:lnTo>
                  <a:pt x="0" y="74060"/>
                </a:lnTo>
                <a:cubicBezTo>
                  <a:pt x="0" y="64239"/>
                  <a:pt x="1879" y="54792"/>
                  <a:pt x="5637" y="45718"/>
                </a:cubicBezTo>
                <a:cubicBezTo>
                  <a:pt x="9396" y="36645"/>
                  <a:pt x="14747" y="28636"/>
                  <a:pt x="21692" y="21692"/>
                </a:cubicBezTo>
                <a:cubicBezTo>
                  <a:pt x="28636" y="14747"/>
                  <a:pt x="36645" y="9396"/>
                  <a:pt x="45718" y="5637"/>
                </a:cubicBezTo>
                <a:cubicBezTo>
                  <a:pt x="54792" y="1879"/>
                  <a:pt x="64239" y="0"/>
                  <a:pt x="740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127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BE54A-7B52-48B9-B274-8942B40E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3138936"/>
            <a:ext cx="23843387" cy="126735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clinics in Kenya operate on a walk-in first-come-first-served basis. Patients arrive early in the morning and wait for hours without knowing when they will be attended to. This leads to: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Overcrowded waiting rooms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 unpredictable wait times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frustration and abandonment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Doctors having idle time when no-shows occur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way to track patient flow or appointment history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result: Inefficient use of doctor's time, poor patient experience, and disorganized clinic operations.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solution: A Clinic Queue Management System that allows patients to book appointment slots in advance, tracks real-time queue position, sends notifications when their turn is near, and manages doctor schedules efficiently. Most clinics in Kenya operate on a walk-in first-come-first-served basis. Patients arrive early in the morning and wait for hours without knowing when they will be attended to.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-time queue position, sends notifications when their turn is near, and manages doctor schedules efficiently.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JUSTIFICATIONS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mobile application is a valid solution because it provides transparency and mobility. By digitizing the "number," the clinic can communicate real-time delays. This satisfies the user's need for autonomy (waiting where they choose) and the clinic's need for efficiency (a steady stream of ready patients).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ELLICITATION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Constraints —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 ELICITATION: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basically answering — "What does the system need to do?"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Requirements (what the system must do):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patients to register and create a profile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patients to book, reschedule or cancel appointments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 patients a real-time queue number and position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 SMS/notification reminders before appointment time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doctors to view their daily schedule and patient list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fill cancelled slots from a waitlist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 patient consultation history and medical records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reports on daily patient flow and doctor utilization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receptionist to manually add walk-in patients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doctor availability and working hours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Non-Functional Requirements (how the system must perform):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Reliability — system must be available during clinic hours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— patient data must be protected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Usability — easy to use for both patients and staff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— queue updates must be real-time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 — must handle multiple doctors and departments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SQL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Justification for Using MySQL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 MySQL is valid because: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​Open Source: It fits within a low-cost visibility study as it has no licensing fees for standard use.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​Standardization: It uses standard SQL, making it easy for developers to maintain the system long-term.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​Security: It offers robust user authentication and data encryption, which is critical for the Healthcare domain where patient privacy is paramount.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​By using MySQL, you fulfill the requirement to move from a database dictionary and ER diagram into a functional, physical database design.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[2:09 am, 07/05/2026] +254 110 899704: Requirements Analysis = taking the requirements we listed and organizing them into a clear picture of what the system will do.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Specification = a formal document that describes exactly what the system is, who uses it, what goes in, what comes out, and its limits.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of it like this: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Analysis asks: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uses the system?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they need it to do?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Specification answers: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exactly what the system will do, for who, with what inputs and outputs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[2:10 am, 07/05/2026] +254 110 899704: System Users — who uses 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 — what data goes 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Outputs — what the system produces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SQL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Justification for Using MySQL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 MySQL is valid because: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​Open Source: It fits within a low-cost visibility study as it has no licensing fees for standard use.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​Standardization: It uses standard SQL, making it easy for developers to maintain the system long-term.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​Security: It offers robust user authentication and data encryption, which is critical for the Healthcare domain where patient privacy is paramount.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​By using MySQL, you fulfill the requirement to move from a database dictionary and ER diagram into a functional, physical database design.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[2:09 am, 07/05/2026] +254 110 899704: Requirements Analysis = taking the requirements we listed and organizing them into a clear picture of what the system will do.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Specification = a formal document that describes exactly what the system is, who uses it, what goes in, what comes out, and its limits.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of it like this: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Analysis asks: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uses the system?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they need it to do?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Specification answers: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exactly what the system will do, for who, with what inputs and outputs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[2:10 am, 07/05/2026] +254 110 899704: System Users — who uses 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 — what data goes 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Outputs — what the system produces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P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ROJECT SPECIFICATION FOR A HEALTH CARE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document defines the system specifications for a Healthcare Management System (HMS). The system improves efficiency, accuracy, and accessibility of healthcare services.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of the System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patient records efficiently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appointment scheduling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 electronic medical records (EMR)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communication between patients and healthcare providers- Reduce paperwork and manual errors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Scope of the System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registration and management- Doctor and staff management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 booking and scheduling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 history tracking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Billing and payment processing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Pharmacy and prescription management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Functional Requirements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 (Admin, Doctor, Nurse, Patient)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record management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 scheduling- Medical records storage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Billing system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Pharmacy module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Non-Functional Requirements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and encryption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 response time (2–3 seconds)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Reliability (99.9% uptime) - Usability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Hardware Requirements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Intel Core i5 or higher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8GB RAM minimum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500GB SSD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Software Requirements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Windows/Linux Server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MySQL/PostgreSQL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PHP/Python/Java- Apache/Nginx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Client-server architecture with frontend, backend, and database.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Requirements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 encryption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Role-based authentication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SSL security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Regular backups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Conclusion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improves healthcare delivery by digitizing processes and reducing errors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FEASIBILITY STUDY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Cost Feasibility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"Can we afford to build it?"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 because: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software used is free and open source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expensive hardware required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cost is developer time and hosting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be hosted locally on WAMP/XAMPP for development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Technical Feasibility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"Do we have the technology to build it?"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 because: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database — available and free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Workbench — available and free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PHP/Web interface — can be built with basic web skills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 notifications — can use Africa's Talking API (Kenyan SMS gateway)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tools are accessible on a standard laptop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24-hour time visibility window.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​Objective: To determine if the transition from problem explanation to physical database design can be completed in a single day.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​Methodology: The report breaks down the 24 hours into specific phases: Requirement Analysis (4hrs), Visibility Study (2hrs), Conceptual Design (6hrs), Physical Design (8hrs), and Documentation (4hrs).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​Technology Assessment: It justifies using MySQL as a rapid development tool to meet this deadline.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​Risk Management: It identifies "scope creep" as the primary risk and suggests focusing only on the core queuing logic to remain feasible.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LOGICAL DESIGN — RELATIONSHIPS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	Entity 1 (One)	Relationship	Entity 2 (Many)	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Patient	books	Appointment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Doctor	has	Appointment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Department	has	Doctor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Department	handles	Appointment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Appointment	generates	Queue	1:1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Patient	has	Queue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Patient	receives	Notification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Appointment	triggers	Notification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	Patient	makes	Payment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	Appointment	has	Payment	1:1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	Patient	has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	Doctor	creates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	Appointment	has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1:1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 startAt="14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	has	Department	1:M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Table | Column | Data Type | Constraints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--- | --- | --- | ---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APPOINTMENT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PATIENT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DOCTOR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DEPARTMENT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VisitType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VARCHAR(50)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Duration | INT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ENUM('Scheduled', 'Completed', 'Cancelled')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CreatedAt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TIMESTAMP | DEFAULT CURRENT_TIMESTAMP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PATIENT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VARCHAR(100) | NOT NULL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Gender | ENUM('M', 'F', 'Other')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DoB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BloodGroup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VARCHAR(10)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VARCHAR(20)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Email | VARCHAR(100)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Address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Allergies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ENUM('Active', 'Inactive')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RegistrationDate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TIMESTAMP | DEFAULT CURRENT_TIMESTAMP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DOCTOR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VARCHAR(100) | NOT NULL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Gender | ENUM('M', 'F', 'Other')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Qualification | VARCHAR(100)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Specialization | VARCHAR(50)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LicenseNo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VARCHAR(50) | UNIQUE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VARCHAR(20)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Email | VARCHAR(100)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DEPARTMENT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AvgConsultationTime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ConsultationFee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DECIMAL(10,2)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ENUM('Active', 'Inactive')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DEPARTMENT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VARCHAR(50) | UNIQUE, NOT NULL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Description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ENUM('Active', 'Inactive')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QUEUE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APPOINTMENT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PATIENT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QueueNumber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EstimatedTime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ActualTime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NOTIFICATION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PATIENT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APPOINTMENT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Message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ENUM('SMS', 'Email', 'App')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PAYMENT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PATIENT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APPOINTMENT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Amount | DECIMAL(10,2)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PaymentMethod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ENUM('Cash', 'M-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'Card')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VARCHAR(50)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ENUM('Paid', 'Pending', 'Partial')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MEDICALRECORD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PATIENT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DOCTOR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FK → APPOINTMENT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Diagnosis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Prescription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Notes | TEXT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Weight | DECIMAL(5,2)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BloodPressure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VARCHAR(20)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Temperature | DECIMAL(4,2)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DATE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CLINIC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INT | PK, AUTO_INCREMENT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VARCHAR(100) | NOT NULL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Location | VARCHAR(100)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VARCHAR(20)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Email | VARCHAR(100)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OpeningTime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ClosingTime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TIME |  |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| Status | ENUM('A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DICTIONARY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Entity	Attribute	Data Type	Size	Constraint	Description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APPOINTMENT (Central Entity)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appointment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Doctor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Department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of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NOT NULL	Time of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VisitType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30	NOT NULL	Routine/New/Emergency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Appointment	Duration	INT	-	NULL	Duration in minutes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	Appointment	Status	VARCHAR	20	NOT NULL	Confirmed/Completed/Cancelled/No-Show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	Appointment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CreatedAt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DATETIME	-	NOT NULL	When booking was made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patient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100	NOT NULL	Full 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Patient	Gender	CHAR	1	NOT NULL	M or 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DoB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of birth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BloodGroup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5	NULL	e.g. A+, O-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15	NOT NULL	Phone 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Patient	Email	VARCHAR	100	NULL	Email 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Patient	Address	VARCHAR	100	NULL	Physical 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	Patient	Allergies	VARCHAR	200	NULL	Known allergies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	Patient	Status	VARCHAR	20	NOT NULL	Active/Inactive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	Patient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RegistrationDate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of registration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DOCTOR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doctor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100	NOT NULL	Full 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Doctor	Gender	CHAR	1	NOT NULL	M or 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Doctor	Qualification	VARCHAR	50	NOT NULL	e.g. MBChB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Doctor	Specialization	VARCHAR	50	NULL	Area of specialization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LicenseNo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20	UNIQUE	Medical license 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15	NOT NULL	Phone 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Doctor	Email	VARCHAR	100	NULL	Email 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Department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AvgConsultationTime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NULL	Average time per patient (mins)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	Doctor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ConsultationFee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DECIMAL	10,2	NOT NULL	Fee per consultation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	Doctor	Status	VARCHAR	20	NOT NULL	Active/Inactive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DEPARTMENT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Department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department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Department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50	NOT NULL	e.g. General, Dental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Department	Description	VARCHAR	100	NULL	Department description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Department	Status	VARCHAR	20	NOT NULL	Active/Inactive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CLINIC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Clinic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clinic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Clinic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ClinicName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100	NOT NULL	Name of clinic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Clinic	Location	VARCHAR	100	NOT NULL	Physical location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Clinic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15	NOT NULL	Contact 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Clinic	Email	VARCHAR	100	NULL	Email 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Clinic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OpeningTime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NOT NULL	Opening time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Clinic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ClosingTime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NOT NULL	Closing time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Clinic	Status	VARCHAR	20	NOT NULL	Active/Inactive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QUEUE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queue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QueueNumber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NOT NULL	Patient's queue 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of queue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EstimatedTime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NULL	Estimated call time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Queue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ActualTime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NULL	Actual call time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Queue	Status	VARCHAR	20	NOT NULL	Waiting/Called/Completed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notification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Notification	Message	VARCHAR	200	NOT NULL	Notification message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sent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TIME	-	NOT NULL	Time sent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Notification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30	NOT NULL	Reminder/Alert/Confirmation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Notification	Status	VARCHAR	20	NOT NULL	Sent/Pending/Failed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PAYMENT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payment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Payment	Amount	DECIMAL	10,2	NOT NULL	Amount paid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DATE	-	NOT NULL	Date of payment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PaymentMethod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30	NOT NULL	Cash/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MPesa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/Card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Payment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50	UNIQUE	Transaction reference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 startAt="8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Payment	Status	VARCHAR	20	NOT NULL	Paid/Pending/Failed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Temperature	DECIMAL	4,1	NULL	Body temperature °C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RecordDa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record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Doctor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Diagnosis	TEXT	-	NULL	Doctor's diagnosis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Prescription	TEXT	-	NULL	Prescribed medication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Notes	TEXT	-	NULL	Additional notes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Weight	DECIMAL	5,2	NULL	Patient weight in kg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lain" startAt="9"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BloodPressure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20	NULL	e.g. 120/80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DIAGRAM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4681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F72F2-489D-41D1-8C49-058409E64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5" y="606056"/>
            <a:ext cx="12055549" cy="118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2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27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83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7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EE3E18-E67A-42FB-9906-5E7A3688759E}"/>
              </a:ext>
            </a:extLst>
          </p:cNvPr>
          <p:cNvSpPr txBox="1"/>
          <p:nvPr/>
        </p:nvSpPr>
        <p:spPr>
          <a:xfrm>
            <a:off x="709722" y="490616"/>
            <a:ext cx="8976538" cy="636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PK	Unique record 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Patient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Doctor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INT	-	FK	Links to Appointment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Diagnosis	TEXT	-	NULL	Doctor's diagnosis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Prescription	TEXT	-	NULL	Prescribed medication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Notes	TEXT	-	NULL	Additional notes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Weight	DECIMAL	5,2	NULL	Patient weight in kg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MedicalRecord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BloodPressure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VARCHAR	20	NULL	e.g. 120/80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2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DBD78-C267-4C84-995B-4ED0D589019B}"/>
              </a:ext>
            </a:extLst>
          </p:cNvPr>
          <p:cNvSpPr txBox="1"/>
          <p:nvPr/>
        </p:nvSpPr>
        <p:spPr>
          <a:xfrm>
            <a:off x="182880" y="506998"/>
            <a:ext cx="84810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MEDICAL RECORD| Column | Data Type | Constraints || --- | --- | --- || </a:t>
            </a:r>
            <a:r>
              <a:rPr lang="en-US" dirty="0" err="1"/>
              <a:t>RecordID</a:t>
            </a:r>
            <a:r>
              <a:rPr lang="en-US" dirty="0"/>
              <a:t> | INT | PK, AUTO_INCREMENT || </a:t>
            </a:r>
            <a:r>
              <a:rPr lang="en-US" dirty="0" err="1"/>
              <a:t>PatientID</a:t>
            </a:r>
            <a:r>
              <a:rPr lang="en-US" dirty="0"/>
              <a:t> | INT | FK → PATIENT || </a:t>
            </a:r>
            <a:r>
              <a:rPr lang="en-US" dirty="0" err="1"/>
              <a:t>DoctorID</a:t>
            </a:r>
            <a:r>
              <a:rPr lang="en-US" dirty="0"/>
              <a:t> | INT | FK → DOCTOR || </a:t>
            </a:r>
            <a:r>
              <a:rPr lang="en-US" dirty="0" err="1"/>
              <a:t>AppointmentID</a:t>
            </a:r>
            <a:r>
              <a:rPr lang="en-US" dirty="0"/>
              <a:t> | INT | FK → APPOINTMENT || Diagnosis | TEXT |  || Prescription | TEXT |  || Notes | TEXT |  || Weight | DECIMAL(5,2) |  || </a:t>
            </a:r>
            <a:r>
              <a:rPr lang="en-US" dirty="0" err="1"/>
              <a:t>BloodPressure</a:t>
            </a:r>
            <a:r>
              <a:rPr lang="en-US" dirty="0"/>
              <a:t> | VARCHAR(20) |  || Temperature | DECIMAL(4,1) |  || </a:t>
            </a:r>
            <a:r>
              <a:rPr lang="en-US" dirty="0" err="1"/>
              <a:t>RecordDate</a:t>
            </a:r>
            <a:r>
              <a:rPr lang="en-US" dirty="0"/>
              <a:t> | DATE | DEFAULT CURRENT_DATE |</a:t>
            </a:r>
          </a:p>
        </p:txBody>
      </p:sp>
    </p:spTree>
    <p:extLst>
      <p:ext uri="{BB962C8B-B14F-4D97-AF65-F5344CB8AC3E}">
        <p14:creationId xmlns:p14="http://schemas.microsoft.com/office/powerpoint/2010/main" val="1053099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3789</Words>
  <Application>Microsoft Office PowerPoint</Application>
  <PresentationFormat>Widescreen</PresentationFormat>
  <Paragraphs>367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6</cp:revision>
  <dcterms:created xsi:type="dcterms:W3CDTF">2026-05-08T15:37:23Z</dcterms:created>
  <dcterms:modified xsi:type="dcterms:W3CDTF">2026-05-11T06:05:41Z</dcterms:modified>
</cp:coreProperties>
</file>